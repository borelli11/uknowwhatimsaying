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Depois</c:v>
                </c:pt>
              </c:strCache>
            </c:strRef>
          </c:tx>
          <c:spPr>
            <a:solidFill>
              <a:srgbClr val="CC092F"/>
            </a:solidFill>
            <a:effectLst/>
          </c:spPr>
          <c:invertIfNegative val="0"/>
          <c:dLbls>
            <c:numFmt formatCode="0.0&quot; min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F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Fórmula Acomp. Push Matriz</c:v>
                  </c:pt>
                  <c:pt idx="1">
                    <c:v>Checklist SMS</c:v>
                  </c:pt>
                  <c:pt idx="2">
                    <c:v>Checklist Cards</c:v>
                  </c:pt>
                  <c:pt idx="3">
                    <c:v>Checklist Push</c:v>
                  </c:pt>
                  <c:pt idx="4">
                    <c:v>Gerador AMPscript Push</c:v>
                  </c:pt>
                  <c:pt idx="5">
                    <c:v>Red Scan Imagens Adobe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3.3</c:v>
                </c:pt>
                <c:pt idx="2">
                  <c:v>4.2</c:v>
                </c:pt>
                <c:pt idx="3">
                  <c:v>7.8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4A5056"/>
            </a:solidFill>
            <a:effectLst/>
          </c:spPr>
          <c:invertIfNegative val="0"/>
          <c:dLbls>
            <c:numFmt formatCode="0.0&quot; min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F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Fórmula Acomp. Push Matriz</c:v>
                  </c:pt>
                  <c:pt idx="1">
                    <c:v>Checklist SMS</c:v>
                  </c:pt>
                  <c:pt idx="2">
                    <c:v>Checklist Cards</c:v>
                  </c:pt>
                  <c:pt idx="3">
                    <c:v>Checklist Push</c:v>
                  </c:pt>
                  <c:pt idx="4">
                    <c:v>Gerador AMPscript Push</c:v>
                  </c:pt>
                  <c:pt idx="5">
                    <c:v>Red Scan Imagens Adobe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2.3</c:v>
                </c:pt>
                <c:pt idx="1">
                  <c:v>5</c:v>
                </c:pt>
                <c:pt idx="2">
                  <c:v>8.3</c:v>
                </c:pt>
                <c:pt idx="3">
                  <c:v>17.6</c:v>
                </c:pt>
                <c:pt idx="4">
                  <c:v>25</c:v>
                </c:pt>
                <c:pt idx="5">
                  <c:v>35</c:v>
                </c:pt>
              </c:numCache>
            </c:numRef>
          </c:val>
        </c:ser>
        <c:dLbls>
          <c:numFmt formatCode="0.0&quot; min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31F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1F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12700" cap="flat">
              <a:solidFill>
                <a:srgbClr val="E4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0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31F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posicionar a dupla não como executores de tarefa, mas como operação + melhoria contínua. Os três números da direita são a âncora da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Números-âncora. Se o gerente só olhar um slide, que seja este. Deixar claro que 67,5% e 1h02 vêm de medição, não de estimativa solta.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 a pergunta 'o que exatamente esses dois fazem?'. Escopo em 4 pilares em vez de lista de 16 projetos.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citar os 16 projetos aqui. Só os 4 cases fortes. O Red Scan (-86%) é o destaque: falar em 'redução do tempo de localização de ativos', não em 'economia de 30 minutos'.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nativo: clique com o botão direito &gt; Editar Dados para atualizar os minutos. O olho vai direto para Red Scan e AMPscript.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onde o gerente percebe a escala: não é uma formulinha de Excel, é quase 3 dias de trabalho por mês devolvidos à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existe critério de priorização. Para mover uma bolinha, altere os dois números do array 'bolhas' (esforço, impacto) — valores de 0 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maturidade. Vende o desenvolvimento da dupla — mais forte do que dizer 'fizemos 16 projetos'.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mostrando pipeline: não é um relatório de encerramento, é um modelo em construção.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encerramento. Deixar espaço para perguntas e ter a planilha aberta como backup de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OPERACIONAL  ·  PUBLICAÇÃO E ORQUESTRAÇÃO  ·  FÁBRICA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execução operacional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evolução contínua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projetos, melhorias e automações da operação de CRM — últimos 6 meses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1188720" cy="54864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27939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Enrico Taraborelli  ·  Felipe Gutierrez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6451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Estagiários — Modelo Operacional  |  mar/26 a set/26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123444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CC09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58200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21396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 melhorias entregues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58200" y="2633472"/>
            <a:ext cx="2651760" cy="10973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58200" y="28712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438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automatizados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58200" y="3931920"/>
            <a:ext cx="2651760" cy="10973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41696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67,5%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47365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redução de esforço*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5394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*nas atividades com medição antes x depois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 de atuação em números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operação ganhou com a dupla dentro do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200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105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60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 melhorias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712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entregues e documentados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200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8105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560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automatizados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8712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checklists, AMPscript e validações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200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18105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67,5%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560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esforço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8712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atividades mensuradas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10698480" cy="1481328"/>
          </a:xfrm>
          <a:prstGeom prst="roundRect">
            <a:avLst>
              <a:gd name="adj" fmla="val 4938"/>
            </a:avLst>
          </a:prstGeom>
          <a:solidFill>
            <a:srgbClr val="CC09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38404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1h02min55s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capacidade liberada por dia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4960" y="3913632"/>
            <a:ext cx="10973" cy="868680"/>
          </a:xfrm>
          <a:prstGeom prst="rect">
            <a:avLst/>
          </a:prstGeom>
          <a:solidFill>
            <a:srgbClr val="E063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52160" y="3950208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equivalente a aproximadamente 23 horas e 04 minutos de operação devolvidos ao time a cada mês (base: 22 dias úteis).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2303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*Considera apenas os processos com medição de tempo antes e depois. Os demais entregam impacto imediato, não mensurado em minutos.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“Da execução operacional para a evolução contínua da operação.”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Atuação ponta a ponta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Executar, controlar, melhorar e automatizar — o que a dupla sustenta hoje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920240"/>
            <a:ext cx="566928" cy="566928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0574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883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rotina que roda todo dia.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11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dos disparos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nos canais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diários Salesforce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peças e prioridades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1920240"/>
            <a:ext cx="566928" cy="566928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67328" y="20574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26883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 contínua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a causa, não o sintoma.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611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fluxos e regras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retrabalho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estruturais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priorização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1920240"/>
            <a:ext cx="566928" cy="566928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0528" y="20574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26883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o manual do caminho.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611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automatizados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AMPscript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e fórmulas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imagens (Red Scan)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0" y="164592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53728" y="1920240"/>
            <a:ext cx="566928" cy="566928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53728" y="20574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53728" y="26883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 registrado se perde.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36118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entregas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processos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e evidências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Mensuração de impacto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melhoria nasce dentro da rotina: quem executa é quem enxerga o gargalo.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→ Depois → Impacto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entregas com medição de tempo na rotina diária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468880" cy="3794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105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SMS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15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5min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832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584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3min20s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005840" y="4041648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BE7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1148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e menor dependência de conferência manual.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1600200"/>
            <a:ext cx="2468880" cy="3794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18105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Push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715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17min33s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3832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584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7min48s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749040" y="4041648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BE7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49040" y="41148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-56%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segurança e agilidade na validação das peças.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600200"/>
            <a:ext cx="2468880" cy="3794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18105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Gerador AMPscript Push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2715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25min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3832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584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10min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6492240" y="4041648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BE7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41148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gerada em escala, com menos erro de sintaxe.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61120" y="1600200"/>
            <a:ext cx="2468880" cy="3794760"/>
          </a:xfrm>
          <a:prstGeom prst="roundRect">
            <a:avLst>
              <a:gd name="adj" fmla="val 2963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35440" y="18105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Scan Imagens Adobe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235440" y="2715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35min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23544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235440" y="33832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235440" y="3584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5min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9235440" y="4041648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235440" y="41148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-86%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23544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de ativos deixa de ser gargalo da produção.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por dia, medido por feedback dos analistas e uso real. Variações ocorrem conforme o volume da demanda.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de tempo por processo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consumidos por dia — antes e depois das entregas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108960" cy="3749040"/>
          </a:xfrm>
          <a:prstGeom prst="roundRect">
            <a:avLst>
              <a:gd name="adj" fmla="val 2353"/>
            </a:avLst>
          </a:prstGeom>
          <a:solidFill>
            <a:srgbClr val="231F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está o maior ganho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6888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em atividades de alta frequência multiplicam a economia: o ganho é proporcional ao uso.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processos com maior volume diário (imagens, AMPscript e validação de push) concentram 80% do tempo recuperado.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ainda sem baseline entram na próxima rodada de medição.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069080" y="1463040"/>
          <a:ext cx="7452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" y="5623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planilha Doc_Entregas_Enrico_&amp;_Felipe — aba Impacto Projetos.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devolvida à operação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atividades mensuradas, por dia de operação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47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31720" y="1737360"/>
            <a:ext cx="7955280" cy="530352"/>
          </a:xfrm>
          <a:prstGeom prst="roundRect">
            <a:avLst>
              <a:gd name="adj" fmla="val 8621"/>
            </a:avLst>
          </a:prstGeom>
          <a:solidFill>
            <a:srgbClr val="4A50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56032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1h33min13s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2560320"/>
            <a:ext cx="7955280" cy="530352"/>
          </a:xfrm>
          <a:prstGeom prst="roundRect">
            <a:avLst>
              <a:gd name="adj" fmla="val 8621"/>
            </a:avLst>
          </a:prstGeom>
          <a:solidFill>
            <a:srgbClr val="E7E9EC"/>
          </a:solidFill>
          <a:ln/>
        </p:spPr>
      </p:sp>
      <p:sp>
        <p:nvSpPr>
          <p:cNvPr id="9" name="Shape 7"/>
          <p:cNvSpPr/>
          <p:nvPr/>
        </p:nvSpPr>
        <p:spPr>
          <a:xfrm>
            <a:off x="2331720" y="2560320"/>
            <a:ext cx="2585765" cy="530352"/>
          </a:xfrm>
          <a:prstGeom prst="roundRect">
            <a:avLst>
              <a:gd name="adj" fmla="val 8621"/>
            </a:avLst>
          </a:prstGeom>
          <a:solidFill>
            <a:srgbClr val="CC09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03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30min18s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46085" y="26883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liberada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1h02min55s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507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liberados por dia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800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processos medidos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6576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67,5%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4507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redução de esforço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4800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tempo original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4964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23h04min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4507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liberados por mês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4800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 22 dias úteis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440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mensal calculada sobre atividades de execução diária. Resultado apurado por medição e feedback — varia conforme o volume de demandas.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 melhorias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 posicionada por esforço de desenvolvimento e impacto na operação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691640"/>
            <a:ext cx="2651760" cy="1828800"/>
          </a:xfrm>
          <a:prstGeom prst="rect">
            <a:avLst/>
          </a:prstGeom>
          <a:solidFill>
            <a:srgbClr val="E9EBEE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1691640"/>
            <a:ext cx="2651760" cy="1828800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520440"/>
            <a:ext cx="2651760" cy="1828800"/>
          </a:xfrm>
          <a:prstGeom prst="rect">
            <a:avLst/>
          </a:prstGeom>
          <a:solidFill>
            <a:srgbClr val="F0F1F3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3520440"/>
            <a:ext cx="2651760" cy="1828800"/>
          </a:xfrm>
          <a:prstGeom prst="rect">
            <a:avLst/>
          </a:prstGeom>
          <a:solidFill>
            <a:srgbClr val="ECEEF1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1691640"/>
            <a:ext cx="10973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520440"/>
            <a:ext cx="5303520" cy="10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81328" y="1801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RÁPIDO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ESTRUTURANTE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87368" y="1783080"/>
            <a:ext cx="402336" cy="402336"/>
          </a:xfrm>
          <a:prstGeom prst="ellipse">
            <a:avLst/>
          </a:prstGeom>
          <a:solidFill>
            <a:srgbClr val="CC092F"/>
          </a:solidFill>
          <a:ln/>
          <a:effectLst>
            <a:outerShdw sx="100000" sy="100000" kx="0" ky="0" algn="bl" rotWithShape="0" blurRad="76200" dist="12700" dir="5400000">
              <a:srgbClr val="231F20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087368" y="186537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26664" y="2221992"/>
            <a:ext cx="402336" cy="402336"/>
          </a:xfrm>
          <a:prstGeom prst="ellipse">
            <a:avLst/>
          </a:prstGeom>
          <a:solidFill>
            <a:srgbClr val="CC092F"/>
          </a:solidFill>
          <a:ln/>
          <a:effectLst>
            <a:outerShdw sx="100000" sy="100000" kx="0" ky="0" algn="bl" rotWithShape="0" blurRad="76200" dist="12700" dir="5400000">
              <a:srgbClr val="231F20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26664" y="23042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7178" y="2039112"/>
            <a:ext cx="402336" cy="402336"/>
          </a:xfrm>
          <a:prstGeom prst="ellipse">
            <a:avLst/>
          </a:prstGeom>
          <a:solidFill>
            <a:srgbClr val="CC092F"/>
          </a:solidFill>
          <a:ln/>
          <a:effectLst>
            <a:outerShdw sx="100000" sy="100000" kx="0" ky="0" algn="bl" rotWithShape="0" blurRad="76200" dist="12700" dir="5400000">
              <a:srgbClr val="231F20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7178" y="21214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31136" y="3136392"/>
            <a:ext cx="402336" cy="402336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76200" dist="12700" dir="5400000">
              <a:srgbClr val="231F20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231136" y="32186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31459" y="2953512"/>
            <a:ext cx="402336" cy="402336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76200" dist="12700" dir="5400000">
              <a:srgbClr val="231F20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731459" y="30358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96312" y="2660904"/>
            <a:ext cx="402336" cy="402336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76200" dist="12700" dir="5400000">
              <a:srgbClr val="231F20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496312" y="274320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22192" y="3502152"/>
            <a:ext cx="402336" cy="402336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76200" dist="12700" dir="5400000">
              <a:srgbClr val="231F20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822192" y="358444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3941064"/>
            <a:ext cx="402336" cy="402336"/>
          </a:xfrm>
          <a:prstGeom prst="ellipse">
            <a:avLst/>
          </a:prstGeom>
          <a:solidFill>
            <a:srgbClr val="4A5056"/>
          </a:solidFill>
          <a:ln/>
          <a:effectLst>
            <a:outerShdw sx="100000" sy="100000" kx="0" ky="0" algn="bl" rotWithShape="0" blurRad="76200" dist="12700" dir="5400000">
              <a:srgbClr val="231F20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617720" y="40233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486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de desenvolvimento  →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 rot="16200000">
            <a:off x="-777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operação  →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1691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EM DESTAQUE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52360" y="2148840"/>
            <a:ext cx="292608" cy="292608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52360" y="21991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86384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Scan Imagens Adobe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52360" y="2578608"/>
            <a:ext cx="292608" cy="292608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52360" y="26289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Push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52360" y="3008376"/>
            <a:ext cx="292608" cy="292608"/>
          </a:xfrm>
          <a:prstGeom prst="ellipse">
            <a:avLst/>
          </a:prstGeom>
          <a:solidFill>
            <a:srgbClr val="CC09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52360" y="305866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86384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AMPscript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52360" y="3438144"/>
            <a:ext cx="292608" cy="292608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452360" y="348843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3465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SMS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52360" y="3867912"/>
            <a:ext cx="292608" cy="292608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452360" y="39182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de Pastas Vencidas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52360" y="4297680"/>
            <a:ext cx="292608" cy="292608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452360" y="43479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863840" y="4325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Controle de Prioridades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52360" y="4727448"/>
            <a:ext cx="292608" cy="292608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452360" y="477774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786384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na Fila de Peças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52360" y="5157216"/>
            <a:ext cx="292608" cy="292608"/>
          </a:xfrm>
          <a:prstGeom prst="ellipse">
            <a:avLst/>
          </a:prstGeom>
          <a:solidFill>
            <a:srgbClr val="4A505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452360" y="520750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7863840" y="5184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Acompanhamento de Pushs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16 tarefas soltas: é um portfólio de transformação da operação.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executor a agente de melhoria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não termina na execução da rotina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76272"/>
            <a:ext cx="457200" cy="457200"/>
          </a:xfrm>
          <a:prstGeom prst="ellipse">
            <a:avLst/>
          </a:prstGeom>
          <a:solidFill>
            <a:srgbClr val="FB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76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6148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2724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operação diária de push, e-mail, SMS e cards.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16936" y="19659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45536" y="2176272"/>
            <a:ext cx="457200" cy="457200"/>
          </a:xfrm>
          <a:prstGeom prst="ellipse">
            <a:avLst/>
          </a:prstGeom>
          <a:solidFill>
            <a:srgbClr val="FBE7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45536" y="2276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45536" y="276148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45536" y="312724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gargalos, retrabalho e pontos de erro.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82896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02352" y="19659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0952" y="2176272"/>
            <a:ext cx="457200" cy="457200"/>
          </a:xfrm>
          <a:prstGeom prst="ellipse">
            <a:avLst/>
          </a:prstGeom>
          <a:solidFill>
            <a:srgbClr val="FB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30952" y="2276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276148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312724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e desenhar a solução junto com o time.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87768" y="19659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2176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16368" y="2276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16368" y="276148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16368" y="312724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solução em processo automático.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73184" y="196596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01784" y="2176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01784" y="2276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701784" y="276148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01784" y="3127248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Documentar, padronizar e medir o resultado.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" y="434340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BE7E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97280" y="4553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se repete: cada melhoria entregue vira baseline para a próxima. É assim que a rotina deixa de ser custo e vira ativo da operação.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estamos construindo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estamos, o que está em curso e para onde vamos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33172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mais estruturada e previsível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documentados e rastreáveis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consistente de tarefas manuais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disponibilizadas à liderança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200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1E3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C0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EVOLUÇÃO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82312" y="233172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novos processos do fluxo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dos projetos ainda sem baseline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consolidado de eficiência operacional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de pastas vencidas em rollout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200400" cy="2880360"/>
          </a:xfrm>
          <a:prstGeom prst="roundRect">
            <a:avLst>
              <a:gd name="adj" fmla="val 2540"/>
            </a:avLst>
          </a:prstGeom>
          <a:solidFill>
            <a:srgbClr val="CC092F"/>
          </a:solidFill>
          <a:ln w="12700">
            <a:solidFill>
              <a:srgbClr val="CC09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1920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31352" y="233172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melhorias pontuais em modelo contínuo de eficiência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 o método para outros canais da Fábrica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ganho de capacidade como indicador da área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documentação completa (16 entregas, problema, resolução, ferramentas, resultado e evidências) está disponível como anexo.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920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ganho não está apenas no tempo economizado.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6517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em criar uma operação mais simples, segura,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rastreável e escalável.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4389120"/>
            <a:ext cx="1188720" cy="54864"/>
          </a:xfrm>
          <a:prstGeom prst="rect">
            <a:avLst/>
          </a:prstGeom>
          <a:solidFill>
            <a:srgbClr val="CC09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4663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Enrico Taraborelli  ·  Felipe Gutierrez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0017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Operacional — Publicação e Orquestração  |  Fábrica de CRM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de Projetos e Impactos Operacionais</dc:title>
  <dc:subject>PptxGenJS Presentation</dc:subject>
  <dc:creator>Enrico Taraborelli e Felipe Gutierrez</dc:creator>
  <cp:lastModifiedBy>Enrico Taraborelli e Felipe Gutierrez</cp:lastModifiedBy>
  <cp:revision>1</cp:revision>
  <dcterms:created xsi:type="dcterms:W3CDTF">2026-09-09T12:45:21Z</dcterms:created>
  <dcterms:modified xsi:type="dcterms:W3CDTF">2026-09-09T12:45:21Z</dcterms:modified>
</cp:coreProperties>
</file>