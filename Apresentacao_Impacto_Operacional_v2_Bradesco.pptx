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Depois</c:v>
                </c:pt>
              </c:strCache>
            </c:strRef>
          </c:tx>
          <c:spPr>
            <a:solidFill>
              <a:srgbClr val="CC092F"/>
            </a:solidFill>
            <a:effectLst/>
          </c:spPr>
          <c:invertIfNegative val="0"/>
          <c:dLbls>
            <c:numFmt formatCode="0.0&quot; min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31F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Fórmulas Formatação Push Matriz</c:v>
                  </c:pt>
                  <c:pt idx="1">
                    <c:v>Checklist SMS</c:v>
                  </c:pt>
                  <c:pt idx="2">
                    <c:v>Visualização Fila de Peças</c:v>
                  </c:pt>
                  <c:pt idx="3">
                    <c:v>Checklist Push</c:v>
                  </c:pt>
                  <c:pt idx="4">
                    <c:v>Red Scan Imagens Adobe</c:v>
                  </c:pt>
                  <c:pt idx="5">
                    <c:v>Dashboard Acomp. de Pushs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3.3</c:v>
                </c:pt>
                <c:pt idx="2">
                  <c:v>4.2</c:v>
                </c:pt>
                <c:pt idx="3">
                  <c:v>7.8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4A5056"/>
            </a:solidFill>
            <a:effectLst/>
          </c:spPr>
          <c:invertIfNegative val="0"/>
          <c:dLbls>
            <c:numFmt formatCode="0.0&quot; min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31F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Fórmulas Formatação Push Matriz</c:v>
                  </c:pt>
                  <c:pt idx="1">
                    <c:v>Checklist SMS</c:v>
                  </c:pt>
                  <c:pt idx="2">
                    <c:v>Visualização Fila de Peças</c:v>
                  </c:pt>
                  <c:pt idx="3">
                    <c:v>Checklist Push</c:v>
                  </c:pt>
                  <c:pt idx="4">
                    <c:v>Red Scan Imagens Adobe</c:v>
                  </c:pt>
                  <c:pt idx="5">
                    <c:v>Dashboard Acomp. de Pushs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2.3</c:v>
                </c:pt>
                <c:pt idx="1">
                  <c:v>5</c:v>
                </c:pt>
                <c:pt idx="2">
                  <c:v>8.3</c:v>
                </c:pt>
                <c:pt idx="3">
                  <c:v>17.6</c:v>
                </c:pt>
                <c:pt idx="4">
                  <c:v>25</c:v>
                </c:pt>
                <c:pt idx="5">
                  <c:v>35</c:v>
                </c:pt>
              </c:numCache>
            </c:numRef>
          </c:val>
        </c:ser>
        <c:dLbls>
          <c:numFmt formatCode="0.0&quot; min&quot;" sourceLinked="0"/>
          <c:txPr>
            <a:bodyPr/>
            <a:lstStyle/>
            <a:p>
              <a:pPr>
                <a:defRPr b="0" i="0" strike="noStrike" sz="950" u="none">
                  <a:solidFill>
                    <a:srgbClr val="231F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1F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12700" cap="flat">
              <a:solidFill>
                <a:srgbClr val="E9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0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31F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Usos por dia</c:v>
                </c:pt>
              </c:strCache>
            </c:strRef>
          </c:tx>
          <c:spPr>
            <a:solidFill>
              <a:srgbClr val="CC092F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F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Dashboard Acomp. de Pushs</c:v>
                  </c:pt>
                  <c:pt idx="1">
                    <c:v>Red Scan Imagens Adobe</c:v>
                  </c:pt>
                  <c:pt idx="2">
                    <c:v>Visualização Fila de Peças</c:v>
                  </c:pt>
                  <c:pt idx="3">
                    <c:v>Checklist SMS</c:v>
                  </c:pt>
                  <c:pt idx="4">
                    <c:v>Checklist Push</c:v>
                  </c:pt>
                  <c:pt idx="5">
                    <c:v>Fórmulas Formatação Push Matriz</c:v>
                  </c:pt>
                  <c:pt idx="6">
                    <c:v>Gerador AMPscript Push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11.7</c:v>
                </c:pt>
                <c:pt idx="5">
                  <c:v>20</c:v>
                </c:pt>
                <c:pt idx="6">
                  <c:v>30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000" u="none">
                  <a:solidFill>
                    <a:srgbClr val="231F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1F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0"/>
        <c:axPos val="b"/>
        <c:majorGridlines>
          <c:spPr>
            <a:ln w="12700" cap="flat">
              <a:solidFill>
                <a:srgbClr val="E9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0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Objetivo: sair da leitura de 'estagiários que executam tarefa' para 'dupla que sustenta e evolui a operação'.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Números-âncora. Se o gerente sênior olhar um slide só, que seja este. Deixar claro que vem de medição, não de estimativa.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 'o que exatamente esses dois fazem?'. Quatro pilares em vez de lista de 15 projetos.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potencial. Para gerente sênior, a curva de complexidade vale tanto quanto o número de entregas: mostra capacidade de assumir escopo maior.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em problema resolvido, não em ferramenta. O Dashboard de Pushs (-86%) é o case de abertura.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nativo: botão direito &gt; Editar Dados para atualizar os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leitura anual é a que muda a conversa: 35 dias úteis é quase dois meses de um analista devolvidos à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mata a objeção 'legal, mas alguém usa isso?'. Adoção é o argumento mais difícil de contestar.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a lista de nomes com o Felipe antes de apresentar. Mostrar alcance evita a leitura de 'projeto pessoal'.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Slide-chave para gerente sênior: banco pensa em risco. Aqui a dupla deixa de ser 'economia de tempo' e vira 'camada de proteção'.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mover uma bolinha, arraste. Eixo X = esforço, eixo Y =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maturidade. Vende o método, não a entrega isolada.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encontro com gerente sênior precisa de um pedido claro. A licença do Power BI é o pedido mais concreto e barato de aprovar. Validar com Juliana e Alexandre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e abrir para perguntas com a planilha de documentação aberta como backup de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CC0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6629400"/>
            <a:ext cx="896112" cy="228600"/>
          </a:xfrm>
          <a:prstGeom prst="rect">
            <a:avLst/>
          </a:prstGeom>
          <a:solidFill>
            <a:srgbClr val="CC092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OPERACIONAL  ·  PUBLICAÇÃO E ORQUESTRAÇÃO  ·  FÁBRICA DE CRM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execução operacional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evolução contínua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projetos, melhorias e automações da operação de CRM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12801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4805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Enrico Taraborelli  ·  Felipe Gutierrez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Estagiários — Modelo Operacional  |  mar/26 a set/26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 de atuação em números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operação ganhou com a dupla dentro do time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2468880" cy="1737360"/>
          </a:xfrm>
          <a:prstGeom prst="roundRect">
            <a:avLst>
              <a:gd name="adj" fmla="val 3684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944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 melhorias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236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entregues e documentados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2057400"/>
            <a:ext cx="2468880" cy="1737360"/>
          </a:xfrm>
          <a:prstGeom prst="roundRect">
            <a:avLst>
              <a:gd name="adj" fmla="val 3684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30752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730752" y="2944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automatizados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3236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checklists, AMPscript e validações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468880" cy="1737360"/>
          </a:xfrm>
          <a:prstGeom prst="roundRect">
            <a:avLst>
              <a:gd name="adj" fmla="val 3684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944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impactadas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236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analistas, gestão e outras frentes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0" y="2057400"/>
            <a:ext cx="2468880" cy="1737360"/>
          </a:xfrm>
          <a:prstGeom prst="roundRect">
            <a:avLst>
              <a:gd name="adj" fmla="val 3684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7152" y="22402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67,5%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217152" y="2944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esforço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17152" y="3236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atividades mensuradas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041648"/>
            <a:ext cx="10698480" cy="1371600"/>
          </a:xfrm>
          <a:prstGeom prst="roundRect">
            <a:avLst>
              <a:gd name="adj" fmla="val 4667"/>
            </a:avLst>
          </a:prstGeom>
          <a:solidFill>
            <a:srgbClr val="CC09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1h02min55s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8646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capacidade liberada por dia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4297680"/>
            <a:ext cx="10973" cy="822960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52160" y="4315968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Aproximadamente 23 horas por mês e 277 horas por ano devolvidas à operação — o equivalente a 35 dias úteis de um analista.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*Percentual e horas consideram apenas os 6 processos com medição de tempo antes x depois. As demais entregas geram impacto imediato, não mensurado em minutos.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Atuação ponta a ponta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Executar, controlar, melhorar e automatizar — o que a dupla sustenta hoje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468880" cy="320040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31720"/>
            <a:ext cx="530352" cy="530352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5973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358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01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rotina que roda todo dia.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8862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dos disparos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de peças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diários Salesforce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peças e prioridades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468880" cy="320040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331720"/>
            <a:ext cx="530352" cy="530352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9040" y="245973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0358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 contínua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401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a causa, não o sintoma.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38862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fluxos e regras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retrabalho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estruturais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de demandas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468880" cy="320040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331720"/>
            <a:ext cx="530352" cy="530352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245973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358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401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o manual do caminho.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8862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automatizados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AMPscript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Scan de imagens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dupla checagem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2103120"/>
            <a:ext cx="2468880" cy="320040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2331720"/>
            <a:ext cx="530352" cy="530352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5440" y="245973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0358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401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 registrado se perde.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38862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entregas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processos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e evidências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Mensuração de impacto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melhoria nasce dentro da rotina: quem executa é quem enxerga o gargalo.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curva de maturidade das entregas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meses: de ajuste em planilha a sistema próprio e agente de IA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2468880" cy="306324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abr/26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312724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Prioridades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SMS e Push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da Fila de Peças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VBA, Workflow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148840"/>
            <a:ext cx="2468880" cy="306324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30752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– jun/26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e medir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312724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da Push Matriz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diários Salesforce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Reuniões Sync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Teams, Outlook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468880" cy="306324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3952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jul/26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12724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Peças em Power BI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DoubleCheck (Copilot)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AMPscript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DAX, Copilot, JS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61120" y="2148840"/>
            <a:ext cx="2468880" cy="3063240"/>
          </a:xfrm>
          <a:prstGeom prst="roundRect">
            <a:avLst>
              <a:gd name="adj" fmla="val 2593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17152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– set/26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217152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sistema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312724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Scan de Imagens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Pushs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de pastas vencidas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JS, Power BI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complexidade das entregas cresceu junto com a autonomia: o mesmo time que ajustava fórmula em março entrega sistema em produção em setembro.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→ Depois → Impacto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entregas com medição de tempo na rotina diária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468880" cy="3337560"/>
          </a:xfrm>
          <a:prstGeom prst="roundRect">
            <a:avLst>
              <a:gd name="adj" fmla="val 2593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Pushs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999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35min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803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986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7552" y="440740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44622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-86%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828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falhas de disparo deixa de depender de apuração manual.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2103120"/>
            <a:ext cx="2468880" cy="333756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30752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Scan Imagens Adobe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2999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730752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25min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730752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3803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3986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30752" y="440740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B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30752" y="44622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730752" y="4828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de ativos deixa de ser gargalo da produção.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103120"/>
            <a:ext cx="2468880" cy="333756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Push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999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17min33s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73952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3803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3986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7min48s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73952" y="440740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BE7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73952" y="44622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-56%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4828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segurança e agilidade na validação das peças.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61120" y="2103120"/>
            <a:ext cx="2468880" cy="333756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17152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 Fila de Peças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217152" y="2999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217152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8min20s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217152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217152" y="3803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217152" y="3986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4min10s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217152" y="440740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BE7E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217152" y="44622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-50%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217152" y="4828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 gestores enxergam a fila em tempo real.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55778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por dia, apurado por medição e feedback dos analistas. Varia conforme o volume de demandas.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de tempo por processo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consumidos por dia — antes e depois das entregas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017520" cy="3383280"/>
          </a:xfrm>
          <a:prstGeom prst="roundRect">
            <a:avLst>
              <a:gd name="adj" fmla="val 2121"/>
            </a:avLst>
          </a:prstGeom>
          <a:solidFill>
            <a:srgbClr val="231F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está o maior ganho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260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em atividades de alta frequência multiplicam a economia: o ganho é proporcional ao uso.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Pushs e Red Scan concentram 63% de todo o tempo recuperado.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processos ainda sem baseline entram na próxima rodada de medição.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977640" y="1965960"/>
          <a:ext cx="7543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planilha Doc_Entregas_Enrico_&amp;_Felipe — aba Impacto Projetos.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devolvida à operação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atividades mensuradas, projetada no tempo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77440" y="219456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4A50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06040" y="2286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1h33min13s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77440" y="297180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E7E9EC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2971800"/>
            <a:ext cx="2556043" cy="502920"/>
          </a:xfrm>
          <a:prstGeom prst="roundRect">
            <a:avLst>
              <a:gd name="adj" fmla="val 9091"/>
            </a:avLst>
          </a:prstGeom>
          <a:solidFill>
            <a:srgbClr val="CC09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06040" y="3063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30min18s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62083" y="3099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liberada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2468880" cy="1463040"/>
          </a:xfrm>
          <a:prstGeom prst="roundRect">
            <a:avLst>
              <a:gd name="adj" fmla="val 4375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1h02min55s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6 processos medidos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3931920"/>
            <a:ext cx="2468880" cy="1463040"/>
          </a:xfrm>
          <a:prstGeom prst="roundRect">
            <a:avLst>
              <a:gd name="adj" fmla="val 4375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0752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23h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3730752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22 dias úteis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2468880" cy="1463040"/>
          </a:xfrm>
          <a:prstGeom prst="roundRect">
            <a:avLst>
              <a:gd name="adj" fmla="val 4375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277h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dias úteis de um analista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0" y="3931920"/>
            <a:ext cx="2468880" cy="1463040"/>
          </a:xfrm>
          <a:prstGeom prst="roundRect">
            <a:avLst>
              <a:gd name="adj" fmla="val 4375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7152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67,5%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redução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esforço original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sobre atividades de execução diária. Resultado apurado por medição e feedback — varia conforme o volume de demandas.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ferramentas estão em uso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acionamentos por dia — adoção real, não entrega de gaveta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57400"/>
          <a:ext cx="7223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2057400"/>
            <a:ext cx="3291840" cy="3291840"/>
          </a:xfrm>
          <a:prstGeom prst="roundRect">
            <a:avLst>
              <a:gd name="adj" fmla="val 1944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Gerador de AMPscript é acionado 30 vezes por dia. Um ganho pequeno por uso vira ganho grande no mês.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entrega ficou parada: todas entraram na rotina de quem pediu.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uso é o melhor indicador de que a solução resolveu o problema certo.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5321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coluna “Média de uso por dia” da aba Impacto Projetos.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usa o que construímos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entregas atravessam quatro frentes da área — não ficam na mesa dos estagiários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2468880" cy="301752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359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e validação de peças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" y="3017520"/>
            <a:ext cx="457200" cy="32004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Jockzan Brito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Beatriz Aquino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Milena Pereira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4251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SMS, Push e Cards · Agente DoubleCheck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2148840"/>
            <a:ext cx="2468880" cy="301752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0752" y="2359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liderança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30752" y="3017520"/>
            <a:ext cx="457200" cy="32004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30752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Viana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Buhrer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Moraes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4251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· Fila de Peças · Relatório de Sync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468880" cy="301752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2359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Analistas de canal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73952" y="3017520"/>
            <a:ext cx="457200" cy="32004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952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Giovana Obeid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Canha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Alves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4251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Pushs · Gerador de AMPscript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2148840"/>
            <a:ext cx="2468880" cy="3017520"/>
          </a:xfrm>
          <a:prstGeom prst="roundRect">
            <a:avLst>
              <a:gd name="adj" fmla="val 259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7152" y="23591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e outras frentes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17152" y="3017520"/>
            <a:ext cx="457200" cy="32004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17152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Yaggo Paiva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Macedo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Paola Munhoz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4251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Scan de Imagens · Martech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de tempo não é dos estagiários: é de quem opera, de quem valida e de quem decide.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do tempo: o risco que deixou de existir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das 15 entregas não economizam minutos — reduzem a chance de erro chegar ao cliente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95728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CC09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42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peças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414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SMS, Push e Cards · Agente DoubleCheck (Copilot)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4140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com conteúdo, regra ou ortografia errada publicada em produção.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64408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CC09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4107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2826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diários Salesforce · Fórmulas da Push Matriz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2826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disparo não detectada e campanha entregue parcialmente.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33088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CC09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79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gerencial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1513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da Fila de Peças · Dashboards em Power BI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1513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gestão tomada sobre relatório com número errado.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001768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CC09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148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50200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de pastas vencidas · Documentação e evidências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50200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fora de validade no ar e entrega sem rastreabilidade.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ENDEREÇADO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operacional em CRM chega ao cliente final. O ganho mais difícil de medir é justamente o mais caro de perder.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 melhorias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 posicionada por esforço de desenvolvimento e impacto na operação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71600" y="2331720"/>
            <a:ext cx="2560320" cy="1554480"/>
          </a:xfrm>
          <a:prstGeom prst="rect">
            <a:avLst/>
          </a:prstGeom>
          <a:solidFill>
            <a:srgbClr val="EDEEF1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2331720"/>
            <a:ext cx="2560320" cy="155448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886200"/>
            <a:ext cx="2560320" cy="1554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3886200"/>
            <a:ext cx="2560320" cy="1554480"/>
          </a:xfrm>
          <a:prstGeom prst="rect">
            <a:avLst/>
          </a:prstGeom>
          <a:solidFill>
            <a:srgbClr val="EFF0F3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0" y="2331720"/>
            <a:ext cx="10973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886200"/>
            <a:ext cx="512064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057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RÁPIDO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057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ESTRUTURANTE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63517" y="2459736"/>
            <a:ext cx="365760" cy="365760"/>
          </a:xfrm>
          <a:prstGeom prst="ellipse">
            <a:avLst/>
          </a:prstGeom>
          <a:solidFill>
            <a:srgbClr val="CC092F"/>
          </a:solidFill>
          <a:ln/>
          <a:effectLst>
            <a:outerShdw sx="100000" sy="100000" kx="0" ky="0" algn="bl" rotWithShape="0" blurRad="63500" dist="12700" dir="5400000">
              <a:srgbClr val="231F20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63517" y="25328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770632"/>
            <a:ext cx="365760" cy="365760"/>
          </a:xfrm>
          <a:prstGeom prst="ellipse">
            <a:avLst/>
          </a:prstGeom>
          <a:solidFill>
            <a:srgbClr val="CC092F"/>
          </a:solidFill>
          <a:ln/>
          <a:effectLst>
            <a:outerShdw sx="100000" sy="100000" kx="0" ky="0" algn="bl" rotWithShape="0" blurRad="63500" dist="12700" dir="5400000">
              <a:srgbClr val="231F20">
                <a:alpha val="2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749040" y="28437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85232" y="2584094"/>
            <a:ext cx="365760" cy="365760"/>
          </a:xfrm>
          <a:prstGeom prst="ellipse">
            <a:avLst/>
          </a:prstGeom>
          <a:solidFill>
            <a:srgbClr val="CC092F"/>
          </a:solidFill>
          <a:ln/>
          <a:effectLst>
            <a:outerShdw sx="100000" sy="100000" kx="0" ky="0" algn="bl" rotWithShape="0" blurRad="63500" dist="12700" dir="5400000">
              <a:srgbClr val="231F20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85232" y="265724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80944" y="3081528"/>
            <a:ext cx="365760" cy="365760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63500" dist="12700" dir="5400000">
              <a:srgbClr val="231F20">
                <a:alpha val="2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980944" y="3154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15261" y="3454603"/>
            <a:ext cx="365760" cy="365760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63500" dist="12700" dir="5400000">
              <a:srgbClr val="231F20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315261" y="3527755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92470" y="3330245"/>
            <a:ext cx="365760" cy="365760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63500" dist="12700" dir="5400000">
              <a:srgbClr val="231F20">
                <a:alpha val="2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592470" y="3403397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1802" y="3827678"/>
            <a:ext cx="365760" cy="365760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63500" dist="12700" dir="5400000">
              <a:srgbClr val="231F20">
                <a:alpha val="2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441802" y="390083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70755" y="4200754"/>
            <a:ext cx="365760" cy="365760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63500" dist="12700" dir="5400000">
              <a:srgbClr val="231F20">
                <a:alpha val="2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670755" y="427390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5504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de desenvolvimento  →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 rot="16200000">
            <a:off x="-685800" y="3758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operação  →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057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EM DESTAQUE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23760" y="2542032"/>
            <a:ext cx="274320" cy="274320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23760" y="2587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607808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Acompanhamento de Pushs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223760" y="2926080"/>
            <a:ext cx="274320" cy="274320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23760" y="2971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607808" y="2944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Scan Imagens Adobe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23760" y="3310128"/>
            <a:ext cx="274320" cy="274320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23760" y="33558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AMPscript Push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223760" y="3694176"/>
            <a:ext cx="274320" cy="274320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223760" y="37398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607808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Fila de Peças (Power BI)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223760" y="4078224"/>
            <a:ext cx="274320" cy="274320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223760" y="41239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607808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SMS, Push e Cards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223760" y="4462272"/>
            <a:ext cx="274320" cy="274320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223760" y="45079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607808" y="4480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de Pastas Vencidas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223760" y="4846320"/>
            <a:ext cx="274320" cy="274320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2237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7607808" y="4864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DoubleCheck (Copilot)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223760" y="5230368"/>
            <a:ext cx="274320" cy="274320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223760" y="52760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607808" y="5248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Reuniões Sync 2.0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15 tarefas soltas: existe critério de priorização por esforço e retorno.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executor a agente de melhoria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não termina na execução da rotina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1965960" cy="1920240"/>
          </a:xfrm>
          <a:prstGeom prst="roundRect">
            <a:avLst>
              <a:gd name="adj" fmla="val 333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42032"/>
            <a:ext cx="438912" cy="438912"/>
          </a:xfrm>
          <a:prstGeom prst="ellipse">
            <a:avLst/>
          </a:prstGeom>
          <a:solidFill>
            <a:srgbClr val="FB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33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564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operação diária de push, e-mail, SMS e cards.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31089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916936" y="2331720"/>
            <a:ext cx="1965960" cy="1920240"/>
          </a:xfrm>
          <a:prstGeom prst="roundRect">
            <a:avLst>
              <a:gd name="adj" fmla="val 333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45536" y="2542032"/>
            <a:ext cx="438912" cy="438912"/>
          </a:xfrm>
          <a:prstGeom prst="ellipse">
            <a:avLst/>
          </a:prstGeom>
          <a:solidFill>
            <a:srgbClr val="FBE7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45536" y="2633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45536" y="31089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45536" y="34564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gargalos, retrabalho e pontos de erro.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82896" y="31089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102352" y="2331720"/>
            <a:ext cx="1965960" cy="1920240"/>
          </a:xfrm>
          <a:prstGeom prst="roundRect">
            <a:avLst>
              <a:gd name="adj" fmla="val 3333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0952" y="2542032"/>
            <a:ext cx="438912" cy="438912"/>
          </a:xfrm>
          <a:prstGeom prst="ellipse">
            <a:avLst/>
          </a:prstGeom>
          <a:solidFill>
            <a:srgbClr val="FB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30952" y="2633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31089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34564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e desenhar a solução junto com o time.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31089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287768" y="2331720"/>
            <a:ext cx="1965960" cy="1920240"/>
          </a:xfrm>
          <a:prstGeom prst="roundRect">
            <a:avLst>
              <a:gd name="adj" fmla="val 3333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25420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16368" y="2633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16368" y="31089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16368" y="34564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solução em processo automático.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31089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9473184" y="2331720"/>
            <a:ext cx="1965960" cy="1920240"/>
          </a:xfrm>
          <a:prstGeom prst="roundRect">
            <a:avLst>
              <a:gd name="adj" fmla="val 3333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01784" y="25420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01784" y="2633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701784" y="31089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01784" y="34564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Documentar, padronizar e medir o resultado.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" y="4617720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BE7E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97280" y="4828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se repete: cada melhoria entregue vira baseline para a próxima. É assim que a rotina deixa de ser custo e vira ativo da operação.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1790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em construção e o que destrava mais resultado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5212080" cy="3108960"/>
          </a:xfrm>
          <a:prstGeom prst="roundRect">
            <a:avLst>
              <a:gd name="adj" fmla="val 2059"/>
            </a:avLst>
          </a:prstGeom>
          <a:solidFill>
            <a:srgbClr val="F6F6F8"/>
          </a:solidFill>
          <a:ln w="12700">
            <a:solidFill>
              <a:srgbClr val="E4E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7889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de pastas vencidas em rollout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Reuniões Sync 2.0 em Power BI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dos 9 projetos ainda sem baseline de tempo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consolidado de eficiência da operação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método para outros canais da Fábrica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212080" cy="3108960"/>
          </a:xfrm>
          <a:prstGeom prst="roundRect">
            <a:avLst>
              <a:gd name="adj" fmla="val 2059"/>
            </a:avLst>
          </a:prstGeom>
          <a:solidFill>
            <a:srgbClr val="CC09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DESTRAVA MAIS RESULTADO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7889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Power BI para publicar a Fila de Peças em produção — o dashboard está pronto e parado por isso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fixa na agenda para melhoria contínua, hoje encaixada entre demandas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Patrocínio para levar o método a outros canais e times da área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documentação completa (15 entregas com problema, resolução, ferramentas, resultado, impacto, stakeholders e evidências) está disponível como anexo.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ganho não está apenas no tempo economizado.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7432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em criar uma operação mais simples, segura,</a:t>
            </a:r>
            <a:endParaRPr lang="en-US" sz="3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rastreável e escalável.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97280" y="4343400"/>
            <a:ext cx="1280160" cy="54864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46177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Enrico Taraborelli  ·  Felipe Gutierrez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956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Operacional — Publicação e Orquestração  |  Fábrica de CRM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de Projetos e Impactos Operacionais</dc:title>
  <dc:subject>PptxGenJS Presentation</dc:subject>
  <dc:creator>Enrico Taraborelli e Felipe Gutierrez</dc:creator>
  <cp:lastModifiedBy>Enrico Taraborelli e Felipe Gutierrez</cp:lastModifiedBy>
  <cp:revision>1</cp:revision>
  <dcterms:created xsi:type="dcterms:W3CDTF">2026-09-09T13:21:50Z</dcterms:created>
  <dcterms:modified xsi:type="dcterms:W3CDTF">2026-09-09T13:21:50Z</dcterms:modified>
</cp:coreProperties>
</file>